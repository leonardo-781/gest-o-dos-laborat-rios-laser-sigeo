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82880" cy="3474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63040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t>SILAB</a:t>
            </a:r>
          </a:p>
          <a:p>
            <a:pPr>
              <a:spcAft>
                <a:spcPts val="1400"/>
              </a:spcAft>
              <a:defRPr sz="2200" b="1">
                <a:solidFill>
                  <a:srgbClr val="60A5FA"/>
                </a:solidFill>
              </a:defRPr>
            </a:pPr>
            <a:r>
              <a:t>Sistema Integrado de Gestão dos Laboratórios LASER &amp; SIGEO</a:t>
            </a:r>
          </a:p>
          <a:p>
            <a:pPr>
              <a:spcAft>
                <a:spcPts val="2200"/>
              </a:spcAft>
              <a:defRPr sz="1500">
                <a:solidFill>
                  <a:srgbClr val="94A3B8"/>
                </a:solidFill>
              </a:defRPr>
            </a:pPr>
            <a:r>
              <a:t>Governança de Horários, Equipamentos de Precisão, Suporte Técnico e Softwares</a:t>
            </a:r>
          </a:p>
          <a:p>
            <a:pPr>
              <a:defRPr sz="1200" b="1">
                <a:solidFill>
                  <a:srgbClr val="93C5FD"/>
                </a:solidFill>
              </a:defRPr>
            </a:pPr>
            <a:r>
              <a:t>Departamento de Engenharia de Agrimensura e Cartografia • Sala 1B209 (LASER) | Sala 1B307 (SIGEO) | Sala 1B308 (Técnicos)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O Cenário Atual: Gargalos no Uso dos Laboratórios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1D4ED8"/>
                </a:solidFill>
              </a:defRPr>
            </a:pPr>
            <a:r>
              <a:t>📅 Conflitos &amp; Horários Ocultos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Grade horária impressa e desatualizada. Aulas práticas sobrepostas e falta de previsibilidade para alunos e professores.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D97706"/>
                </a:solidFill>
              </a:defRPr>
            </a:pPr>
            <a:r>
              <a:t>🛠️ Máquinas Inoperantes sem Registro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Computadores travando e instrumentos ópticos/GNSS descalibrados sem abertura formal de chamado técnico.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7E22CE"/>
                </a:solidFill>
              </a:defRPr>
            </a:pPr>
            <a:r>
              <a:t>💻 Softwares Faltando nas Aulas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Turmas chegam para a aula prática e os plugins/softwares (QGIS, Metashape) não estão instalados ou ativados.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 Solução: Plataforma Centralizada, Aberta e Inteligente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1D4ED8"/>
                </a:solidFill>
              </a:defRPr>
            </a:pPr>
            <a:r>
              <a:t>🌐 Acesso Democrático &amp; Ágil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Consulta da grade em tempo real sem necessidade de login. Qualquer aluno, docente ou visitante solicita horários ou apoio com 1 clique.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59669"/>
                </a:solidFill>
              </a:defRPr>
            </a:pPr>
            <a:r>
              <a:t>🤖 Validação Anti-Choque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Algoritmo inteligente que impede agendamentos em horários com aulas regulares ou reservas já aprovadas.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7E22CE"/>
                </a:solidFill>
              </a:defRPr>
            </a:pPr>
            <a:r>
              <a:t>🎫 Rastreamento Unificado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Protocolos transparentes para acompanhar em tempo real:</a:t>
            </a:r>
            <a:br/>
            <a:r>
              <a:t>• REQ- Reservas de Horários</a:t>
            </a:r>
            <a:br/>
            <a:r>
              <a:t>• MAN- Manutenções de Máquinas</a:t>
            </a:r>
            <a:br/>
            <a:r>
              <a:t>• SFT- Instalações de Softwares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Mapeamento Oficial das Instalações Integradas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4ED8"/>
                </a:solidFill>
              </a:defRPr>
            </a:pPr>
            <a:r>
              <a:t>📐 LASER (Sala 1B209)</a:t>
            </a:r>
          </a:p>
          <a:p>
            <a:pPr>
              <a:spcAft>
                <a:spcPts val="1200"/>
              </a:spcAft>
              <a:defRPr sz="1100" b="1">
                <a:solidFill>
                  <a:srgbClr val="64748B"/>
                </a:solidFill>
              </a:defRPr>
            </a:pPr>
            <a:r>
              <a:t>Laboratório de Sensoriamento Remoto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• Scanners 3D Laser Terrestres (Leica BLK360 &amp; FARO)</a:t>
            </a:r>
            <a:br/>
            <a:r>
              <a:t>• Receptores GNSS RTK Trimble R8s</a:t>
            </a:r>
            <a:br/>
            <a:r>
              <a:t>• Estações Totais Manuais &amp; Robotizadas</a:t>
            </a:r>
            <a:br/>
            <a:r>
              <a:t>• Drone DJI Matrice 300 com sensor LiDAR</a:t>
            </a:r>
            <a:br/>
            <a:r>
              <a:t>• 6 Bancadas de processamento em campo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🛰️ SIGEO (Sala 1B307)</a:t>
            </a:r>
          </a:p>
          <a:p>
            <a:pPr>
              <a:spcAft>
                <a:spcPts val="1200"/>
              </a:spcAft>
              <a:defRPr sz="1100" b="1">
                <a:solidFill>
                  <a:srgbClr val="64748B"/>
                </a:solidFill>
              </a:defRPr>
            </a:pPr>
            <a:r>
              <a:t>Laboratório de SIG e Geoprocessamento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• 24 Workstations de Alto Desempenho (RTX 4070)</a:t>
            </a:r>
            <a:br/>
            <a:r>
              <a:t>• Servidor Central de Processamento Metashape</a:t>
            </a:r>
            <a:br/>
            <a:r>
              <a:t>• Plotter Colorida HP DesignJet T830 (A0)</a:t>
            </a:r>
            <a:br/>
            <a:r>
              <a:t>• Kits de Estereoscopia 3D com óculos polarizados</a:t>
            </a:r>
            <a:br/>
            <a:r>
              <a:t>• Aulas práticas de SIG, PDI e Cartografia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8745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🛠️ TÉCNICOS (Sala 1B308)</a:t>
            </a:r>
          </a:p>
          <a:p>
            <a:pPr>
              <a:spcAft>
                <a:spcPts val="1200"/>
              </a:spcAft>
              <a:defRPr sz="1100" b="1">
                <a:solidFill>
                  <a:srgbClr val="64748B"/>
                </a:solidFill>
              </a:defRPr>
            </a:pPr>
            <a:r>
              <a:t>Sala de Atendimento Técnico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• Ponto central de plantão e entrega de instrumentos</a:t>
            </a:r>
            <a:br/>
            <a:r>
              <a:t>• Triagem e isolamento de máquinas com defeito</a:t>
            </a:r>
            <a:br/>
            <a:r>
              <a:t>• Homologação e instalação de softwares e licenças</a:t>
            </a:r>
            <a:br/>
            <a:r>
              <a:t>• Suporte presencial aos alunos e docentes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Grade Semestral Oficial &amp; Leitor Inteligente de PDF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D4ED8"/>
                </a:solidFill>
              </a:defRPr>
            </a:pPr>
            <a:r>
              <a:t>📅 Grade de Horários em Tempo Real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• 12 tempos diários de aula (07:10 até 18:30).</a:t>
            </a:r>
            <a:br/>
            <a:r>
              <a:t>• Divisão oficial: Aulas da Agrimensura e cursos externos (Florestal e Agronomia destacados).</a:t>
            </a:r>
            <a:br/>
            <a:r>
              <a:t>• Mini calendário mensal integrado para troca imediata de semanas.</a:t>
            </a:r>
            <a:br/>
            <a:r>
              <a:t>• Edição in-loco para coordenadores e técnicos sem precisar recarregar o sistema.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7E22CE"/>
                </a:solidFill>
              </a:defRPr>
            </a:pPr>
            <a:r>
              <a:t>📄 Leitor Inteligente de Grade PDF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• Extração automatizada de disciplinas a partir do PDF oficial da coordenação.</a:t>
            </a:r>
            <a:br/>
            <a:r>
              <a:t>• Classificação heurística de laboratório (SIGEO para matérias SIG/PDI e LASER para Sensoriamento/Modelagem).</a:t>
            </a:r>
            <a:br/>
            <a:r>
              <a:t>• Importação em lote em poucos segundos com registro em auditoria.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Módulo de Manutenção &amp; Averiguação de Máquinas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D97706"/>
                </a:solidFill>
              </a:defRPr>
            </a:pPr>
            <a:r>
              <a:t>⚠️ Solicitação Aberta (MAN-)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Qualquer usuário reporta defeitos em computadores ou sensores com níveis de gravidade: Baixa, Média, Alta e Crítica.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1D4ED8"/>
                </a:solidFill>
              </a:defRPr>
            </a:pPr>
            <a:r>
              <a:t>🔧 Isolamento Técnico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Técnicos colocam a máquina com status 'Em Manutenção', registrando o motivo, data de entrada e técnico encarregado.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59669"/>
                </a:solidFill>
              </a:defRPr>
            </a:pPr>
            <a:r>
              <a:t>✅ Conclusão &amp; Desbloqueio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Após o conserto ou calibração, o técnico registra o parecer e libera a máquina de volta para a grade com 1 clique.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Módulo de Softwares &amp; Gestão de Licenças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7E22CE"/>
                </a:solidFill>
              </a:defRPr>
            </a:pPr>
            <a:r>
              <a:t>💻 Demanda Antecipada (SFT-)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Alunos e professores solicitam a instalação de novos programas, bibliotecas Python ou plugins (QGIS, Metashape, CloudCompare, Blender).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1D4ED8"/>
                </a:solidFill>
              </a:defRPr>
            </a:pPr>
            <a:r>
              <a:t>🔑 Coleta de Chave / Serial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Campo obrigatório e destacado quando o software requer licença comercial, acadêmica ou convênio para permitir homologação regular.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59669"/>
                </a:solidFill>
              </a:defRPr>
            </a:pPr>
            <a:r>
              <a:t>⚡ Deploy Rápido pela TI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</a:defRPr>
            </a:pPr>
            <a:r>
              <a:t>Painel técnico com botão de 'Copiar Chave' com 1 clique para agilizar a instalação em lote nas 24 bancadas do laboratório.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Segurança, Controle de Acesso (RBAC) &amp; Auditoria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</a:defRPr>
            </a:pPr>
            <a:r>
              <a:t>👥 Perfis de Acesso Bem Definidos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• Visitante / Aluno: Visualiza grade, inventário e abre chamados.</a:t>
            </a:r>
            <a:br/>
            <a:r>
              <a:t>• Professor: Solicita apoio para aulas práticas e projetos de pesquisa.</a:t>
            </a:r>
            <a:br/>
            <a:r>
              <a:t>• Técnico: Aprova/recusa reservas, opera manutenção e instala softwares.</a:t>
            </a:r>
            <a:br/>
            <a:r>
              <a:t>• Coordenador: Gestão total da grade, aprovação de contas e auditoria.</a:t>
            </a:r>
            <a:br/>
            <a:r>
              <a:t>• Zero-Trust: Inicia sempre deslogado por padrão de segurança.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59669"/>
                </a:solidFill>
              </a:defRPr>
            </a:pPr>
            <a:r>
              <a:t>📋 Trilha de Auditoria &amp; Exportação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• Registro imutável de todas as aprovações, recusas e alterações de aula.</a:t>
            </a:r>
            <a:br/>
            <a:r>
              <a:t>• Identificação do responsável, solicitante, data/hora e justificativa.</a:t>
            </a:r>
            <a:br/>
            <a:r>
              <a:t>• Exportação em 1 clique para planilha CSV formatada para prestação de contas.</a:t>
            </a:r>
            <a:br/>
            <a:r>
              <a:t>• Estatísticas restritas de ocupação para subsidiar relatórios departamentais.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SILAB • GESTÃO DOS LABORATÓRIOS LASER &amp; SIGEO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Demonstração Prática do Sistema em Operação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D4ED8"/>
                </a:solidFill>
              </a:defRPr>
            </a:pPr>
            <a:r>
              <a:t>1. Consulta Pública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Acesso aos horários e normas sem login no navegador.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D97706"/>
                </a:solidFill>
              </a:defRPr>
            </a:pPr>
            <a:r>
              <a:t>2. Abertura de Solicitação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Reserva de laboratório, chamado de manutenção ou software.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E22CE"/>
                </a:solidFill>
              </a:defRPr>
            </a:pPr>
            <a:r>
              <a:t>3. Rastreamento por Protocolo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Consulta pública da linha do tempo com código REQ-, MAN- ou SFT-.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51460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59669"/>
                </a:solidFill>
              </a:defRPr>
            </a:pPr>
            <a:r>
              <a:t>4. Gestão Técnica na Sala 1B308</a:t>
            </a:r>
          </a:p>
          <a:p>
            <a:pPr>
              <a:lnSpc>
                <a:spcPct val="125000"/>
              </a:lnSpc>
              <a:defRPr sz="1200">
                <a:solidFill>
                  <a:srgbClr val="1E293B"/>
                </a:solidFill>
              </a:defRPr>
            </a:pPr>
            <a:r>
              <a:t>Aprovação, controle de máquinas e homologação no painel.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Resultados &amp; Prontidão Institucional</a:t>
            </a:r>
          </a:p>
          <a:p>
            <a:pPr>
              <a:lnSpc>
                <a:spcPct val="135000"/>
              </a:lnSpc>
              <a:spcAft>
                <a:spcPts val="2800"/>
              </a:spcAft>
              <a:defRPr sz="1500">
                <a:solidFill>
                  <a:srgbClr val="E2E8F0"/>
                </a:solidFill>
              </a:defRPr>
            </a:pPr>
            <a:r>
              <a:t>✓ Zero conflito de horários nos laboratórios LASER (1B209) e SIGEO (1B307)</a:t>
            </a:r>
            <a:br/>
            <a:r>
              <a:t>✓ Chamados de manutenção e softwares 100% formalizados e rastreáveis</a:t>
            </a:r>
            <a:br/>
            <a:r>
              <a:t>✓ Transparência total com trilha de auditoria e relatórios exportáveis</a:t>
            </a:r>
            <a:br/>
            <a:r>
              <a:t>✓ Código versionado no GitHub e esquema PostgreSQL pronto para deploy em nuvem</a:t>
            </a:r>
          </a:p>
          <a:p>
            <a:pPr>
              <a:defRPr sz="1400" b="1">
                <a:solidFill>
                  <a:srgbClr val="60A5FA"/>
                </a:solidFill>
              </a:defRPr>
            </a:pPr>
            <a:r>
              <a:t>Obrigado! • Repositório: https://github.com/Leonardo-781/Gest-o-dos-Laborat-rios-LASER-SIGEO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